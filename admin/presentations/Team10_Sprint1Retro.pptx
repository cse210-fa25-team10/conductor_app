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Roboto Medium"/>
      <p:regular r:id="rId23"/>
      <p:bold r:id="rId24"/>
      <p:italic r:id="rId25"/>
      <p:boldItalic r:id="rId26"/>
    </p:embeddedFont>
    <p:embeddedFont>
      <p:font typeface="Libre Baskerville"/>
      <p:regular r:id="rId27"/>
      <p:bold r:id="rId28"/>
      <p: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Medium-bold.fntdata"/><Relationship Id="rId23" Type="http://schemas.openxmlformats.org/officeDocument/2006/relationships/font" Target="fonts/RobotoMedium-regular.fntdata"/><Relationship Id="rId26" Type="http://schemas.openxmlformats.org/officeDocument/2006/relationships/font" Target="fonts/RobotoMedium-boldItalic.fntdata"/><Relationship Id="rId25" Type="http://schemas.openxmlformats.org/officeDocument/2006/relationships/font" Target="fonts/RobotoMedium-italic.fntdata"/><Relationship Id="rId28" Type="http://schemas.openxmlformats.org/officeDocument/2006/relationships/font" Target="fonts/LibreBaskerville-bold.fntdata"/><Relationship Id="rId27" Type="http://schemas.openxmlformats.org/officeDocument/2006/relationships/font" Target="fonts/LibreBaskerville-regular.fntdata"/><Relationship Id="rId29" Type="http://schemas.openxmlformats.org/officeDocument/2006/relationships/font" Target="fonts/LibreBaskervill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701eec43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701eec43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701eec43c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701eec43c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701eec43cd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701eec43cd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2ef3cc72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2ef3cc72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2ef3cc72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a2ef3cc72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701eec43c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701eec43c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701eec43c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701eec43c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a2ef3cc7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a2ef3cc7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Idea—Conductor more complex and in depth than anticipated. Next slide—&gt; structure issues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701eec43c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701eec43c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Idea—Stronger organizational rules required in future sprints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701eec43cd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701eec43cd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701eec43c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701eec43c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Idea—Good Team Communication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701eec43cd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701eec43cd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701eec43cd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701eec43cd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23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" name="Google Shape;141;p2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6" name="Google Shape;146;p24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54" name="Google Shape;154;p25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5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6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2" name="Google Shape;162;p26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64" name="Google Shape;164;p26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65" name="Google Shape;165;p26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68" name="Google Shape;168;p2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6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1" name="Google Shape;171;p26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2" name="Google Shape;172;p26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3" name="Google Shape;173;p26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4" name="Google Shape;174;p26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5" name="Google Shape;175;p26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76" name="Google Shape;176;p26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7" name="Google Shape;177;p26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180" name="Google Shape;180;p2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" name="Google Shape;184;p27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7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7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9" name="Google Shape;189;p27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190" name="Google Shape;190;p2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7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2" name="Google Shape;192;p27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8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2" name="Google Shape;202;p28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05" name="Google Shape;205;p2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8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08" name="Google Shape;208;p2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9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29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22" name="Google Shape;222;p29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9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2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0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3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4" name="Google Shape;234;p3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5" name="Google Shape;235;p30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" name="Google Shape;236;p30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7" name="Google Shape;237;p30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8" name="Google Shape;238;p3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42" name="Google Shape;242;p3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" name="Google Shape;243;p3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3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5" name="Google Shape;245;p3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1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1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1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4" name="Google Shape;254;p31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8" name="Google Shape;258;p31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9" name="Google Shape;259;p31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0" name="Google Shape;260;p31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1" name="Google Shape;261;p31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2" name="Google Shape;262;p31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31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4" name="Google Shape;264;p3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2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69" name="Google Shape;269;p32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3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4" name="Google Shape;274;p33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275" name="Google Shape;275;p3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33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7" name="Google Shape;277;p33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8" name="Google Shape;278;p3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3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283" name="Google Shape;283;p3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4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6" name="Google Shape;286;p34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34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" name="Google Shape;288;p34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89" name="Google Shape;289;p34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4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3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5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7" name="Google Shape;297;p35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8" name="Google Shape;298;p35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35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01" name="Google Shape;301;p35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35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3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3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6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9" name="Google Shape;309;p36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0" name="Google Shape;310;p36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36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12" name="Google Shape;312;p3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6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4" name="Google Shape;314;p36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5" name="Google Shape;315;p3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3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7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20" name="Google Shape;320;p3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37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2" name="Google Shape;322;p37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3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" name="Google Shape;327;p38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8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8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8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8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38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33" name="Google Shape;333;p3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5" name="Google Shape;335;p3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6" name="Google Shape;336;p38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7" name="Google Shape;337;p38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8" name="Google Shape;338;p38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9" name="Google Shape;339;p38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0" name="Google Shape;340;p38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1" name="Google Shape;341;p38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2" name="Google Shape;342;p38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3" name="Google Shape;343;p38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4" name="Google Shape;344;p38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5" name="Google Shape;345;p38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38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38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8" name="Google Shape;348;p38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9" name="Google Shape;349;p38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0" name="Google Shape;350;p38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1" name="Google Shape;351;p38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52" name="Google Shape;352;p38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3" name="Google Shape;353;p38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4" name="Google Shape;354;p38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355" name="Google Shape;355;p38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38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57" name="Google Shape;357;p38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8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3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9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364" name="Google Shape;364;p3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9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6" name="Google Shape;366;p3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7" name="Google Shape;367;p39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9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9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9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9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9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9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9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5" name="Google Shape;375;p39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6" name="Google Shape;376;p39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7" name="Google Shape;377;p39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8" name="Google Shape;378;p39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9" name="Google Shape;379;p39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80" name="Google Shape;380;p3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40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85" name="Google Shape;385;p4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4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7" name="Google Shape;387;p4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388" name="Google Shape;388;p40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0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0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0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0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40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4" name="Google Shape;394;p40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5" name="Google Shape;395;p40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6" name="Google Shape;396;p40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7" name="Google Shape;397;p40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8" name="Google Shape;398;p40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9" name="Google Shape;399;p40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00" name="Google Shape;400;p40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1" name="Google Shape;401;p40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2" name="Google Shape;402;p40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03" name="Google Shape;403;p40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4" name="Google Shape;404;p40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5" name="Google Shape;405;p40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06" name="Google Shape;406;p40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7" name="Google Shape;407;p40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8" name="Google Shape;408;p4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4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41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13" name="Google Shape;413;p4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4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5" name="Google Shape;415;p4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6" name="Google Shape;416;p41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17" name="Google Shape;417;p41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8" name="Google Shape;418;p41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9" name="Google Shape;419;p41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20" name="Google Shape;420;p41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1" name="Google Shape;421;p41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2" name="Google Shape;422;p41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23" name="Google Shape;423;p41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4" name="Google Shape;424;p41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5" name="Google Shape;425;p41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26" name="Google Shape;426;p41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7" name="Google Shape;427;p41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41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29" name="Google Shape;429;p41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30" name="Google Shape;430;p41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1" name="Google Shape;431;p4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4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42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2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37" name="Google Shape;437;p42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38" name="Google Shape;438;p4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42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0" name="Google Shape;440;p42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1" name="Google Shape;441;p42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42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42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42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4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43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3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51" name="Google Shape;451;p4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4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3" name="Google Shape;453;p4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4" name="Google Shape;454;p43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43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43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43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43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59" name="Google Shape;459;p4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4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44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4" name="Google Shape;464;p44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5" name="Google Shape;465;p44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66" name="Google Shape;466;p44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44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8" name="Google Shape;468;p44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9" name="Google Shape;469;p4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4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45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45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5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5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77" name="Google Shape;477;p4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45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9" name="Google Shape;479;p45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0" name="Google Shape;480;p4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4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84" name="Google Shape;484;p46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87" name="Google Shape;487;p47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7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7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7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7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3" name="Google Shape;493;p47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4" name="Google Shape;494;p47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5" name="Google Shape;495;p47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6" name="Google Shape;496;p47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48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500" name="Google Shape;500;p48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4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2" name="Google Shape;502;p4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03" name="Google Shape;503;p48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8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48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48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8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08" name="Google Shape;508;p48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48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10" name="Google Shape;510;p48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8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12" name="Google Shape;512;p48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48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4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4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4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4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0" name="Google Shape;520;p4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1" name="Google Shape;521;p49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9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9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9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5" name="Google Shape;525;p49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6" name="Google Shape;526;p49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7" name="Google Shape;527;p49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8" name="Google Shape;528;p4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4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node.j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lhouette of person walking in front of striped facade." id="534" name="Google Shape;534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326" l="0" r="0" t="29322"/>
          <a:stretch/>
        </p:blipFill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</p:spPr>
      </p:pic>
      <p:sp>
        <p:nvSpPr>
          <p:cNvPr id="535" name="Google Shape;535;p50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 Review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&amp; Retrospective</a:t>
            </a:r>
            <a:endParaRPr/>
          </a:p>
        </p:txBody>
      </p:sp>
      <p:sp>
        <p:nvSpPr>
          <p:cNvPr id="536" name="Google Shape;536;p50"/>
          <p:cNvSpPr txBox="1"/>
          <p:nvPr>
            <p:ph idx="1" type="subTitle"/>
          </p:nvPr>
        </p:nvSpPr>
        <p:spPr>
          <a:xfrm>
            <a:off x="6112175" y="2649900"/>
            <a:ext cx="29064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Team 10</a:t>
            </a:r>
            <a:endParaRPr b="0"/>
          </a:p>
        </p:txBody>
      </p:sp>
      <p:sp>
        <p:nvSpPr>
          <p:cNvPr id="537" name="Google Shape;537;p50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538" name="Google Shape;538;p50"/>
          <p:cNvSpPr txBox="1"/>
          <p:nvPr>
            <p:ph idx="4" type="body"/>
          </p:nvPr>
        </p:nvSpPr>
        <p:spPr>
          <a:xfrm>
            <a:off x="5675575" y="4701375"/>
            <a:ext cx="33426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November, </a:t>
            </a: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1"/>
          <p:cNvSpPr txBox="1"/>
          <p:nvPr>
            <p:ph type="title"/>
          </p:nvPr>
        </p:nvSpPr>
        <p:spPr>
          <a:xfrm>
            <a:off x="125700" y="125600"/>
            <a:ext cx="8768100" cy="11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  <p:sp>
        <p:nvSpPr>
          <p:cNvPr id="544" name="Google Shape;544;p51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545" name="Google Shape;545;p51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/>
          </a:p>
        </p:txBody>
      </p:sp>
      <p:sp>
        <p:nvSpPr>
          <p:cNvPr id="546" name="Google Shape;546;p51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</a:t>
            </a:r>
            <a:endParaRPr/>
          </a:p>
        </p:txBody>
      </p:sp>
      <p:sp>
        <p:nvSpPr>
          <p:cNvPr id="547" name="Google Shape;547;p51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Retrospective</a:t>
            </a:r>
            <a:endParaRPr/>
          </a:p>
        </p:txBody>
      </p:sp>
      <p:sp>
        <p:nvSpPr>
          <p:cNvPr id="548" name="Google Shape;548;p51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554" name="Google Shape;554;p5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</a:t>
            </a:r>
            <a:endParaRPr/>
          </a:p>
        </p:txBody>
      </p:sp>
      <p:sp>
        <p:nvSpPr>
          <p:cNvPr id="555" name="Google Shape;555;p52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Gather User Requirements and understand constraints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2"/>
          <p:cNvSpPr txBox="1"/>
          <p:nvPr>
            <p:ph type="title"/>
          </p:nvPr>
        </p:nvSpPr>
        <p:spPr>
          <a:xfrm>
            <a:off x="125700" y="134475"/>
            <a:ext cx="2517000" cy="3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557" name="Google Shape;557;p52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 draft layout on Figma</a:t>
            </a:r>
            <a:endParaRPr/>
          </a:p>
        </p:txBody>
      </p:sp>
      <p:sp>
        <p:nvSpPr>
          <p:cNvPr id="558" name="Google Shape;558;p52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Analyzed which api we need to connect to backend</a:t>
            </a:r>
            <a:endParaRPr/>
          </a:p>
        </p:txBody>
      </p:sp>
      <p:sp>
        <p:nvSpPr>
          <p:cNvPr id="559" name="Google Shape;559;p52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frontend content will be added (attendance, etc)</a:t>
            </a:r>
            <a:endParaRPr/>
          </a:p>
        </p:txBody>
      </p:sp>
      <p:sp>
        <p:nvSpPr>
          <p:cNvPr id="560" name="Google Shape;560;p52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Implemented login, course, dashboard</a:t>
            </a:r>
            <a:r>
              <a:rPr lang="en"/>
              <a:t> </a:t>
            </a:r>
            <a:r>
              <a:rPr lang="en"/>
              <a:t> pages</a:t>
            </a:r>
            <a:endParaRPr/>
          </a:p>
        </p:txBody>
      </p:sp>
      <p:sp>
        <p:nvSpPr>
          <p:cNvPr id="561" name="Google Shape;561;p52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Fusce dictum luctus ex lacinia posuere.</a:t>
            </a:r>
            <a:endParaRPr/>
          </a:p>
        </p:txBody>
      </p:sp>
      <p:sp>
        <p:nvSpPr>
          <p:cNvPr id="562" name="Google Shape;562;p5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p52"/>
          <p:cNvSpPr/>
          <p:nvPr/>
        </p:nvSpPr>
        <p:spPr>
          <a:xfrm>
            <a:off x="5874925" y="3267775"/>
            <a:ext cx="3143400" cy="1482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569" name="Google Shape;569;p5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</a:t>
            </a:r>
            <a:endParaRPr/>
          </a:p>
        </p:txBody>
      </p:sp>
      <p:sp>
        <p:nvSpPr>
          <p:cNvPr id="570" name="Google Shape;570;p53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Initialized the Node.js server and set up Express</a:t>
            </a:r>
            <a:endParaRPr/>
          </a:p>
        </p:txBody>
      </p:sp>
      <p:sp>
        <p:nvSpPr>
          <p:cNvPr id="571" name="Google Shape;571;p53"/>
          <p:cNvSpPr txBox="1"/>
          <p:nvPr>
            <p:ph type="title"/>
          </p:nvPr>
        </p:nvSpPr>
        <p:spPr>
          <a:xfrm>
            <a:off x="125700" y="134475"/>
            <a:ext cx="2517000" cy="3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72" name="Google Shape;572;p53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Initialized the PostgreSQL database</a:t>
            </a:r>
            <a:endParaRPr/>
          </a:p>
        </p:txBody>
      </p:sp>
      <p:sp>
        <p:nvSpPr>
          <p:cNvPr id="573" name="Google Shape;573;p53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Implemented QR Code Attendance System</a:t>
            </a:r>
            <a:endParaRPr/>
          </a:p>
        </p:txBody>
      </p:sp>
      <p:sp>
        <p:nvSpPr>
          <p:cNvPr id="574" name="Google Shape;574;p53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Collaborated with Frontend on API calls</a:t>
            </a:r>
            <a:endParaRPr/>
          </a:p>
        </p:txBody>
      </p:sp>
      <p:sp>
        <p:nvSpPr>
          <p:cNvPr id="575" name="Google Shape;575;p53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Implemented Google OAuth for Login</a:t>
            </a:r>
            <a:endParaRPr/>
          </a:p>
        </p:txBody>
      </p:sp>
      <p:sp>
        <p:nvSpPr>
          <p:cNvPr id="576" name="Google Shape;576;p53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up the backend testing pipeline</a:t>
            </a:r>
            <a:endParaRPr/>
          </a:p>
        </p:txBody>
      </p:sp>
      <p:sp>
        <p:nvSpPr>
          <p:cNvPr id="577" name="Google Shape;577;p5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8" name="Google Shape;578;p53"/>
          <p:cNvSpPr/>
          <p:nvPr/>
        </p:nvSpPr>
        <p:spPr>
          <a:xfrm>
            <a:off x="6502450" y="3329344"/>
            <a:ext cx="2391300" cy="1371600"/>
          </a:xfrm>
          <a:prstGeom prst="roundRect">
            <a:avLst>
              <a:gd fmla="val 16667" name="adj"/>
            </a:avLst>
          </a:prstGeom>
          <a:solidFill>
            <a:srgbClr val="F6F6F1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up the backend testing pipeline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53"/>
          <p:cNvSpPr/>
          <p:nvPr/>
        </p:nvSpPr>
        <p:spPr>
          <a:xfrm>
            <a:off x="5874925" y="3267775"/>
            <a:ext cx="3143400" cy="1482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4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585" name="Google Shape;585;p54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</a:t>
            </a:r>
            <a:endParaRPr/>
          </a:p>
        </p:txBody>
      </p:sp>
      <p:sp>
        <p:nvSpPr>
          <p:cNvPr id="586" name="Google Shape;586;p54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ADR for Infrastructure</a:t>
            </a:r>
            <a:endParaRPr/>
          </a:p>
        </p:txBody>
      </p:sp>
      <p:sp>
        <p:nvSpPr>
          <p:cNvPr id="587" name="Google Shape;587;p54"/>
          <p:cNvSpPr txBox="1"/>
          <p:nvPr>
            <p:ph type="title"/>
          </p:nvPr>
        </p:nvSpPr>
        <p:spPr>
          <a:xfrm>
            <a:off x="125700" y="134475"/>
            <a:ext cx="2517000" cy="3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Infra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Structure</a:t>
            </a:r>
            <a:endParaRPr sz="3800"/>
          </a:p>
        </p:txBody>
      </p:sp>
      <p:sp>
        <p:nvSpPr>
          <p:cNvPr id="588" name="Google Shape;588;p54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Docker File and Docker Compose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4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Tested </a:t>
            </a:r>
            <a:r>
              <a:rPr lang="en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Node.js</a:t>
            </a:r>
            <a:r>
              <a:rPr lang="en"/>
              <a:t> server in Docker </a:t>
            </a:r>
            <a:endParaRPr/>
          </a:p>
        </p:txBody>
      </p:sp>
      <p:sp>
        <p:nvSpPr>
          <p:cNvPr id="590" name="Google Shape;590;p54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basic CI/CD pipeline with linting</a:t>
            </a:r>
            <a:endParaRPr/>
          </a:p>
        </p:txBody>
      </p:sp>
      <p:sp>
        <p:nvSpPr>
          <p:cNvPr id="591" name="Google Shape;591;p54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Integrated Backend Postgres with Docker and Tested</a:t>
            </a:r>
            <a:endParaRPr/>
          </a:p>
        </p:txBody>
      </p:sp>
      <p:sp>
        <p:nvSpPr>
          <p:cNvPr id="592" name="Google Shape;592;p54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Fusce dictum luctus ex lacinia posuere.</a:t>
            </a:r>
            <a:endParaRPr/>
          </a:p>
        </p:txBody>
      </p:sp>
      <p:sp>
        <p:nvSpPr>
          <p:cNvPr id="593" name="Google Shape;593;p5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4" name="Google Shape;594;p54"/>
          <p:cNvSpPr/>
          <p:nvPr/>
        </p:nvSpPr>
        <p:spPr>
          <a:xfrm>
            <a:off x="5874925" y="3267775"/>
            <a:ext cx="3143400" cy="1482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5"/>
          <p:cNvSpPr txBox="1"/>
          <p:nvPr>
            <p:ph type="title"/>
          </p:nvPr>
        </p:nvSpPr>
        <p:spPr>
          <a:xfrm>
            <a:off x="125700" y="125600"/>
            <a:ext cx="54732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Retrospective</a:t>
            </a:r>
            <a:endParaRPr/>
          </a:p>
        </p:txBody>
      </p:sp>
      <p:sp>
        <p:nvSpPr>
          <p:cNvPr id="600" name="Google Shape;600;p55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601" name="Google Shape;601;p55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</a:t>
            </a:r>
            <a:endParaRPr/>
          </a:p>
        </p:txBody>
      </p:sp>
      <p:sp>
        <p:nvSpPr>
          <p:cNvPr id="602" name="Google Shape;602;p55"/>
          <p:cNvSpPr txBox="1"/>
          <p:nvPr>
            <p:ph idx="1" type="subTitle"/>
          </p:nvPr>
        </p:nvSpPr>
        <p:spPr>
          <a:xfrm>
            <a:off x="5831000" y="125600"/>
            <a:ext cx="3155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55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Next, we performed a reflection on what went well and what needed improvement on our first sprint. </a:t>
            </a:r>
            <a:endParaRPr/>
          </a:p>
        </p:txBody>
      </p:sp>
      <p:sp>
        <p:nvSpPr>
          <p:cNvPr id="604" name="Google Shape;604;p55"/>
          <p:cNvSpPr/>
          <p:nvPr/>
        </p:nvSpPr>
        <p:spPr>
          <a:xfrm rot="-2435054">
            <a:off x="104245" y="3829141"/>
            <a:ext cx="1809171" cy="602991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55"/>
          <p:cNvSpPr/>
          <p:nvPr/>
        </p:nvSpPr>
        <p:spPr>
          <a:xfrm rot="-1123229">
            <a:off x="1173116" y="3999613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55"/>
          <p:cNvSpPr/>
          <p:nvPr/>
        </p:nvSpPr>
        <p:spPr>
          <a:xfrm rot="132085">
            <a:off x="2505111" y="3229563"/>
            <a:ext cx="1809255" cy="603029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55"/>
          <p:cNvSpPr/>
          <p:nvPr/>
        </p:nvSpPr>
        <p:spPr>
          <a:xfrm rot="-1085817">
            <a:off x="2809330" y="3999581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55"/>
          <p:cNvSpPr/>
          <p:nvPr/>
        </p:nvSpPr>
        <p:spPr>
          <a:xfrm rot="2700218">
            <a:off x="4229370" y="3793727"/>
            <a:ext cx="1809185" cy="60299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5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6"/>
          <p:cNvSpPr txBox="1"/>
          <p:nvPr>
            <p:ph idx="1" type="subTitle"/>
          </p:nvPr>
        </p:nvSpPr>
        <p:spPr>
          <a:xfrm>
            <a:off x="125700" y="125600"/>
            <a:ext cx="4264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REFLECTION RADAR</a:t>
            </a:r>
            <a:endParaRPr/>
          </a:p>
        </p:txBody>
      </p:sp>
      <p:sp>
        <p:nvSpPr>
          <p:cNvPr id="615" name="Google Shape;615;p56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616" name="Google Shape;616;p56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</a:t>
            </a:r>
            <a:endParaRPr/>
          </a:p>
        </p:txBody>
      </p:sp>
      <p:sp>
        <p:nvSpPr>
          <p:cNvPr id="617" name="Google Shape;617;p5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8" name="Google Shape;61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4975" y="593438"/>
            <a:ext cx="4163661" cy="417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7"/>
          <p:cNvSpPr txBox="1"/>
          <p:nvPr>
            <p:ph idx="1" type="body"/>
          </p:nvPr>
        </p:nvSpPr>
        <p:spPr>
          <a:xfrm>
            <a:off x="5218050" y="369895"/>
            <a:ext cx="3489300" cy="40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</a:pPr>
            <a:r>
              <a:rPr b="1" lang="en"/>
              <a:t>“The design was more complicated than I expected.”</a:t>
            </a:r>
            <a:br>
              <a:rPr b="1" lang="en"/>
            </a:b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</a:pPr>
            <a:r>
              <a:rPr b="1" lang="en"/>
              <a:t>“trying to log out the app was difficult”</a:t>
            </a:r>
            <a:br>
              <a:rPr b="1" lang="en"/>
            </a:b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</a:pPr>
            <a:r>
              <a:rPr b="1" lang="en"/>
              <a:t>“No PR, just commits”</a:t>
            </a:r>
            <a:endParaRPr/>
          </a:p>
        </p:txBody>
      </p:sp>
      <p:sp>
        <p:nvSpPr>
          <p:cNvPr id="624" name="Google Shape;624;p57"/>
          <p:cNvSpPr txBox="1"/>
          <p:nvPr>
            <p:ph type="title"/>
          </p:nvPr>
        </p:nvSpPr>
        <p:spPr>
          <a:xfrm>
            <a:off x="125700" y="125600"/>
            <a:ext cx="45801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</a:t>
            </a:r>
            <a:endParaRPr/>
          </a:p>
        </p:txBody>
      </p:sp>
      <p:sp>
        <p:nvSpPr>
          <p:cNvPr id="625" name="Google Shape;625;p57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57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57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57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5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630" name="Google Shape;630;p5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</a:t>
            </a:r>
            <a:endParaRPr/>
          </a:p>
        </p:txBody>
      </p:sp>
      <p:sp>
        <p:nvSpPr>
          <p:cNvPr id="631" name="Google Shape;631;p5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2" name="Google Shape;632;p57"/>
          <p:cNvSpPr/>
          <p:nvPr/>
        </p:nvSpPr>
        <p:spPr>
          <a:xfrm>
            <a:off x="125700" y="1057825"/>
            <a:ext cx="2331600" cy="8907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Mad</a:t>
            </a:r>
            <a:r>
              <a:rPr lang="en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5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8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58"/>
          <p:cNvSpPr txBox="1"/>
          <p:nvPr>
            <p:ph idx="3" type="body"/>
          </p:nvPr>
        </p:nvSpPr>
        <p:spPr>
          <a:xfrm>
            <a:off x="5218050" y="400209"/>
            <a:ext cx="3489300" cy="40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“Branch protection rules for main should probably be added.”</a:t>
            </a:r>
            <a:br>
              <a:rPr b="1" lang="en"/>
            </a:b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“We may need stronger documentation standards, both for documents and in code.”</a:t>
            </a:r>
            <a:endParaRPr/>
          </a:p>
        </p:txBody>
      </p:sp>
      <p:sp>
        <p:nvSpPr>
          <p:cNvPr id="639" name="Google Shape;639;p58"/>
          <p:cNvSpPr txBox="1"/>
          <p:nvPr>
            <p:ph idx="4294967295" type="title"/>
          </p:nvPr>
        </p:nvSpPr>
        <p:spPr>
          <a:xfrm>
            <a:off x="125700" y="125600"/>
            <a:ext cx="4580100" cy="29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</a:t>
            </a:r>
            <a:endParaRPr/>
          </a:p>
        </p:txBody>
      </p:sp>
      <p:sp>
        <p:nvSpPr>
          <p:cNvPr id="640" name="Google Shape;640;p58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58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58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58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644" name="Google Shape;644;p58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</a:t>
            </a:r>
            <a:endParaRPr/>
          </a:p>
        </p:txBody>
      </p:sp>
      <p:sp>
        <p:nvSpPr>
          <p:cNvPr id="645" name="Google Shape;645;p5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58"/>
          <p:cNvSpPr/>
          <p:nvPr/>
        </p:nvSpPr>
        <p:spPr>
          <a:xfrm>
            <a:off x="1269700" y="1057825"/>
            <a:ext cx="2730300" cy="8907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Sad</a:t>
            </a:r>
            <a:r>
              <a:rPr lang="en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5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9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652" name="Google Shape;652;p59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</a:t>
            </a:r>
            <a:endParaRPr/>
          </a:p>
        </p:txBody>
      </p:sp>
      <p:sp>
        <p:nvSpPr>
          <p:cNvPr id="653" name="Google Shape;653;p59"/>
          <p:cNvSpPr txBox="1"/>
          <p:nvPr>
            <p:ph type="title"/>
          </p:nvPr>
        </p:nvSpPr>
        <p:spPr>
          <a:xfrm>
            <a:off x="125700" y="125600"/>
            <a:ext cx="2515800" cy="43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Action Plan</a:t>
            </a:r>
            <a:endParaRPr sz="5200"/>
          </a:p>
        </p:txBody>
      </p:sp>
      <p:sp>
        <p:nvSpPr>
          <p:cNvPr id="654" name="Google Shape;654;p59"/>
          <p:cNvSpPr txBox="1"/>
          <p:nvPr>
            <p:ph idx="1" type="subTitle"/>
          </p:nvPr>
        </p:nvSpPr>
        <p:spPr>
          <a:xfrm>
            <a:off x="2963075" y="132500"/>
            <a:ext cx="2791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Items</a:t>
            </a:r>
            <a:endParaRPr/>
          </a:p>
        </p:txBody>
      </p:sp>
      <p:sp>
        <p:nvSpPr>
          <p:cNvPr id="655" name="Google Shape;655;p59"/>
          <p:cNvSpPr txBox="1"/>
          <p:nvPr>
            <p:ph idx="2" type="subTitle"/>
          </p:nvPr>
        </p:nvSpPr>
        <p:spPr>
          <a:xfrm>
            <a:off x="6502400" y="125600"/>
            <a:ext cx="24537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59"/>
          <p:cNvSpPr txBox="1"/>
          <p:nvPr>
            <p:ph idx="3" type="body"/>
          </p:nvPr>
        </p:nvSpPr>
        <p:spPr>
          <a:xfrm>
            <a:off x="2963075" y="773325"/>
            <a:ext cx="27423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Repository control rules for PRs and pushing to main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Requirements for JSDocs and Test Modules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Using rebase instead of merge to clean up the git history tree</a:t>
            </a:r>
            <a:endParaRPr/>
          </a:p>
        </p:txBody>
      </p:sp>
      <p:sp>
        <p:nvSpPr>
          <p:cNvPr id="657" name="Google Shape;657;p59"/>
          <p:cNvSpPr txBox="1"/>
          <p:nvPr>
            <p:ph idx="4" type="body"/>
          </p:nvPr>
        </p:nvSpPr>
        <p:spPr>
          <a:xfrm>
            <a:off x="6502400" y="773325"/>
            <a:ext cx="25158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Giving a more concrete definition (shaping more) to assigned tasks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Sharing notes and key decisions between teams in a common space</a:t>
            </a:r>
            <a:endParaRPr/>
          </a:p>
        </p:txBody>
      </p:sp>
      <p:sp>
        <p:nvSpPr>
          <p:cNvPr id="658" name="Google Shape;658;p5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0"/>
          <p:cNvSpPr txBox="1"/>
          <p:nvPr>
            <p:ph idx="1" type="body"/>
          </p:nvPr>
        </p:nvSpPr>
        <p:spPr>
          <a:xfrm>
            <a:off x="5218050" y="369895"/>
            <a:ext cx="3489300" cy="40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</a:pPr>
            <a:r>
              <a:rPr b="1" lang="en"/>
              <a:t>“I think we did great splitting up the work and everybody was working on something”</a:t>
            </a:r>
            <a:br>
              <a:rPr b="1" lang="en"/>
            </a:b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</a:pPr>
            <a:r>
              <a:rPr b="1" lang="en"/>
              <a:t>“I am glad that everyone is communicating well right now. I feel supported and caught up :)”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</a:pPr>
            <a:r>
              <a:rPr b="1" lang="en"/>
              <a:t>“Meetings went well within group and some tickets are closely fast”</a:t>
            </a:r>
            <a:endParaRPr/>
          </a:p>
        </p:txBody>
      </p:sp>
      <p:sp>
        <p:nvSpPr>
          <p:cNvPr id="664" name="Google Shape;664;p60"/>
          <p:cNvSpPr txBox="1"/>
          <p:nvPr>
            <p:ph type="title"/>
          </p:nvPr>
        </p:nvSpPr>
        <p:spPr>
          <a:xfrm>
            <a:off x="125700" y="125600"/>
            <a:ext cx="45801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</a:t>
            </a:r>
            <a:endParaRPr/>
          </a:p>
        </p:txBody>
      </p:sp>
      <p:sp>
        <p:nvSpPr>
          <p:cNvPr id="665" name="Google Shape;665;p60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60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60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60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60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670" name="Google Shape;670;p60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</a:t>
            </a:r>
            <a:endParaRPr/>
          </a:p>
        </p:txBody>
      </p:sp>
      <p:sp>
        <p:nvSpPr>
          <p:cNvPr id="671" name="Google Shape;671;p6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2" name="Google Shape;672;p60"/>
          <p:cNvSpPr/>
          <p:nvPr/>
        </p:nvSpPr>
        <p:spPr>
          <a:xfrm>
            <a:off x="125700" y="1057825"/>
            <a:ext cx="2331600" cy="8907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Glad?</a:t>
            </a:r>
            <a:endParaRPr sz="5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1"/>
          <p:cNvSpPr txBox="1"/>
          <p:nvPr>
            <p:ph type="title"/>
          </p:nvPr>
        </p:nvSpPr>
        <p:spPr>
          <a:xfrm>
            <a:off x="125700" y="125600"/>
            <a:ext cx="7253700" cy="12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Remaining Todo</a:t>
            </a:r>
            <a:endParaRPr/>
          </a:p>
        </p:txBody>
      </p:sp>
      <p:sp>
        <p:nvSpPr>
          <p:cNvPr id="678" name="Google Shape;678;p6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210</a:t>
            </a:r>
            <a:endParaRPr/>
          </a:p>
        </p:txBody>
      </p:sp>
      <p:sp>
        <p:nvSpPr>
          <p:cNvPr id="679" name="Google Shape;679;p6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Conductor</a:t>
            </a:r>
            <a:endParaRPr/>
          </a:p>
        </p:txBody>
      </p:sp>
      <p:sp>
        <p:nvSpPr>
          <p:cNvPr id="680" name="Google Shape;680;p61"/>
          <p:cNvSpPr/>
          <p:nvPr/>
        </p:nvSpPr>
        <p:spPr>
          <a:xfrm rot="-1405">
            <a:off x="650111" y="2374786"/>
            <a:ext cx="1468200" cy="329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 Conductor's Backend to Frontend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61"/>
          <p:cNvSpPr/>
          <p:nvPr/>
        </p:nvSpPr>
        <p:spPr>
          <a:xfrm rot="-1405">
            <a:off x="650111" y="2795844"/>
            <a:ext cx="1468200" cy="329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up EC2 instance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61"/>
          <p:cNvSpPr/>
          <p:nvPr/>
        </p:nvSpPr>
        <p:spPr>
          <a:xfrm rot="-1405">
            <a:off x="650111" y="3216902"/>
            <a:ext cx="1468200" cy="329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Complete Ports &amp; Adapters for API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61"/>
          <p:cNvSpPr/>
          <p:nvPr/>
        </p:nvSpPr>
        <p:spPr>
          <a:xfrm rot="-1405">
            <a:off x="3870524" y="2374786"/>
            <a:ext cx="1468200" cy="329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Attendance page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61"/>
          <p:cNvSpPr/>
          <p:nvPr/>
        </p:nvSpPr>
        <p:spPr>
          <a:xfrm rot="-1405">
            <a:off x="3870524" y="2795844"/>
            <a:ext cx="1468200" cy="329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Assignment page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61"/>
          <p:cNvSpPr/>
          <p:nvPr/>
        </p:nvSpPr>
        <p:spPr>
          <a:xfrm rot="-1405">
            <a:off x="3870524" y="3216902"/>
            <a:ext cx="1468200" cy="329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 CI/CD Pipeline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61"/>
          <p:cNvSpPr/>
          <p:nvPr/>
        </p:nvSpPr>
        <p:spPr>
          <a:xfrm rot="-1405">
            <a:off x="7026799" y="2374786"/>
            <a:ext cx="1468200" cy="3291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Sentiment Analysis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61"/>
          <p:cNvSpPr/>
          <p:nvPr/>
        </p:nvSpPr>
        <p:spPr>
          <a:xfrm rot="-1405">
            <a:off x="7026799" y="2795844"/>
            <a:ext cx="1468200" cy="3291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Summarization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61"/>
          <p:cNvSpPr/>
          <p:nvPr/>
        </p:nvSpPr>
        <p:spPr>
          <a:xfrm rot="-1405">
            <a:off x="7026799" y="3216902"/>
            <a:ext cx="1468200" cy="3291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Notification System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61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Priority</a:t>
            </a:r>
            <a:endParaRPr/>
          </a:p>
        </p:txBody>
      </p:sp>
      <p:sp>
        <p:nvSpPr>
          <p:cNvPr id="690" name="Google Shape;690;p61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Medium Priority</a:t>
            </a:r>
            <a:endParaRPr/>
          </a:p>
        </p:txBody>
      </p:sp>
      <p:sp>
        <p:nvSpPr>
          <p:cNvPr id="691" name="Google Shape;691;p61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Priority</a:t>
            </a:r>
            <a:endParaRPr/>
          </a:p>
        </p:txBody>
      </p:sp>
      <p:sp>
        <p:nvSpPr>
          <p:cNvPr id="692" name="Google Shape;692;p6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2"/>
          <p:cNvSpPr txBox="1"/>
          <p:nvPr>
            <p:ph type="title"/>
          </p:nvPr>
        </p:nvSpPr>
        <p:spPr>
          <a:xfrm>
            <a:off x="125700" y="3233475"/>
            <a:ext cx="8768100" cy="18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pic>
        <p:nvPicPr>
          <p:cNvPr descr="Brick apartment building with exposed fire escapes." id="698" name="Google Shape;698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326" l="0" r="0" t="29322"/>
          <a:stretch/>
        </p:blipFill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</p:spPr>
      </p:pic>
      <p:sp>
        <p:nvSpPr>
          <p:cNvPr id="699" name="Google Shape;699;p62"/>
          <p:cNvSpPr txBox="1"/>
          <p:nvPr>
            <p:ph idx="4294967295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